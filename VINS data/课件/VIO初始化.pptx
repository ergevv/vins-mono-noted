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0" r:id="rId7"/>
    <p:sldId id="257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2021/6/20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8185" y="603250"/>
            <a:ext cx="2207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VIO</a:t>
            </a:r>
            <a:r>
              <a:rPr lang="zh-CN" altLang="en-US" sz="2800"/>
              <a:t>初始化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050" y="2705019"/>
            <a:ext cx="2611755" cy="2558415"/>
          </a:xfrm>
          <a:prstGeom prst="rect">
            <a:avLst/>
          </a:prstGeom>
        </p:spPr>
      </p:pic>
      <p:sp>
        <p:nvSpPr>
          <p:cNvPr id="5" name="文本框 6"/>
          <p:cNvSpPr txBox="1"/>
          <p:nvPr/>
        </p:nvSpPr>
        <p:spPr>
          <a:xfrm>
            <a:off x="8633217" y="5446287"/>
            <a:ext cx="3250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 smtClean="0">
                <a:solidFill>
                  <a:srgbClr val="00B050"/>
                </a:solidFill>
              </a:rPr>
              <a:t>课程介绍</a:t>
            </a:r>
            <a:endParaRPr lang="en-US" sz="36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" y="121285"/>
            <a:ext cx="12066905" cy="66548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980940" y="4126865"/>
            <a:ext cx="1397635" cy="84074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" y="948690"/>
            <a:ext cx="10908665" cy="49606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58825" y="1342390"/>
            <a:ext cx="3321050" cy="1569720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975735"/>
            <a:ext cx="5972175" cy="1562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6260" y="532130"/>
            <a:ext cx="3695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为什么需要初始化？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135380"/>
            <a:ext cx="7115175" cy="14478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705" y="2740025"/>
            <a:ext cx="3017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初始化哪些变量？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945" y="1179195"/>
            <a:ext cx="6800850" cy="1600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445" y="2917190"/>
            <a:ext cx="6610350" cy="2514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1980" y="273050"/>
            <a:ext cx="3512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初始化不去解决哪些变量？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445" y="5629275"/>
            <a:ext cx="6210300" cy="70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5940" y="451485"/>
            <a:ext cx="3249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VIO</a:t>
            </a:r>
            <a:r>
              <a:rPr lang="zh-CN" altLang="en-US">
                <a:sym typeface="+mn-ea"/>
              </a:rPr>
              <a:t>初始化之前</a:t>
            </a:r>
            <a:r>
              <a:rPr lang="zh-CN" altLang="en-US"/>
              <a:t>代码讲解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5780" y="521970"/>
            <a:ext cx="2744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VINS</a:t>
            </a:r>
            <a:r>
              <a:rPr lang="zh-CN" altLang="en-US"/>
              <a:t>中对特征点的管理</a:t>
            </a:r>
          </a:p>
        </p:txBody>
      </p:sp>
      <p:sp>
        <p:nvSpPr>
          <p:cNvPr id="5" name="矩形 4"/>
          <p:cNvSpPr/>
          <p:nvPr/>
        </p:nvSpPr>
        <p:spPr>
          <a:xfrm>
            <a:off x="1447165" y="1585595"/>
            <a:ext cx="1225550" cy="344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id=0</a:t>
            </a:r>
          </a:p>
        </p:txBody>
      </p:sp>
      <p:sp>
        <p:nvSpPr>
          <p:cNvPr id="6" name="矩形 5"/>
          <p:cNvSpPr/>
          <p:nvPr/>
        </p:nvSpPr>
        <p:spPr>
          <a:xfrm>
            <a:off x="1447165" y="2421255"/>
            <a:ext cx="1225550" cy="344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id=1</a:t>
            </a:r>
          </a:p>
        </p:txBody>
      </p:sp>
      <p:sp>
        <p:nvSpPr>
          <p:cNvPr id="7" name="矩形 6"/>
          <p:cNvSpPr/>
          <p:nvPr/>
        </p:nvSpPr>
        <p:spPr>
          <a:xfrm>
            <a:off x="1447165" y="3256915"/>
            <a:ext cx="1225550" cy="344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id=2</a:t>
            </a:r>
          </a:p>
        </p:txBody>
      </p:sp>
      <p:sp>
        <p:nvSpPr>
          <p:cNvPr id="8" name="矩形 7"/>
          <p:cNvSpPr/>
          <p:nvPr/>
        </p:nvSpPr>
        <p:spPr>
          <a:xfrm>
            <a:off x="1447165" y="4072890"/>
            <a:ext cx="1225550" cy="3441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id=3</a:t>
            </a:r>
          </a:p>
        </p:txBody>
      </p:sp>
      <p:sp>
        <p:nvSpPr>
          <p:cNvPr id="9" name="下箭头 8"/>
          <p:cNvSpPr/>
          <p:nvPr/>
        </p:nvSpPr>
        <p:spPr>
          <a:xfrm>
            <a:off x="1983740" y="2000885"/>
            <a:ext cx="121920" cy="3340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1983740" y="2844165"/>
            <a:ext cx="121920" cy="3340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1983740" y="3679825"/>
            <a:ext cx="121920" cy="3340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0590" y="5311775"/>
            <a:ext cx="2359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list</a:t>
            </a:r>
            <a:r>
              <a:rPr lang="en-US" altLang="en-US"/>
              <a:t>&lt;FeaturePerId&gt;</a:t>
            </a:r>
          </a:p>
        </p:txBody>
      </p:sp>
      <p:sp>
        <p:nvSpPr>
          <p:cNvPr id="13" name="左大括号 12"/>
          <p:cNvSpPr/>
          <p:nvPr/>
        </p:nvSpPr>
        <p:spPr>
          <a:xfrm>
            <a:off x="3067685" y="1585595"/>
            <a:ext cx="587375" cy="21564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877310" y="1393190"/>
            <a:ext cx="1103630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id</a:t>
            </a:r>
            <a:r>
              <a:rPr lang="zh-CN" altLang="en-US"/>
              <a:t>号</a:t>
            </a:r>
          </a:p>
        </p:txBody>
      </p:sp>
      <p:sp>
        <p:nvSpPr>
          <p:cNvPr id="15" name="矩形 14"/>
          <p:cNvSpPr/>
          <p:nvPr/>
        </p:nvSpPr>
        <p:spPr>
          <a:xfrm>
            <a:off x="3877310" y="2036445"/>
            <a:ext cx="1103630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起始帧</a:t>
            </a:r>
            <a:r>
              <a:rPr lang="en-US" altLang="zh-CN"/>
              <a:t>id</a:t>
            </a:r>
          </a:p>
        </p:txBody>
      </p:sp>
      <p:sp>
        <p:nvSpPr>
          <p:cNvPr id="16" name="矩形 15"/>
          <p:cNvSpPr/>
          <p:nvPr/>
        </p:nvSpPr>
        <p:spPr>
          <a:xfrm>
            <a:off x="3877310" y="2644140"/>
            <a:ext cx="1103630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深度</a:t>
            </a:r>
          </a:p>
        </p:txBody>
      </p:sp>
      <p:sp>
        <p:nvSpPr>
          <p:cNvPr id="17" name="矩形 16"/>
          <p:cNvSpPr/>
          <p:nvPr/>
        </p:nvSpPr>
        <p:spPr>
          <a:xfrm>
            <a:off x="3877310" y="3236595"/>
            <a:ext cx="1103630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求解状态</a:t>
            </a:r>
          </a:p>
        </p:txBody>
      </p:sp>
      <p:sp>
        <p:nvSpPr>
          <p:cNvPr id="18" name="矩形 17"/>
          <p:cNvSpPr/>
          <p:nvPr/>
        </p:nvSpPr>
        <p:spPr>
          <a:xfrm>
            <a:off x="3877310" y="3869055"/>
            <a:ext cx="1781810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每帧中的属性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6111240" y="3028315"/>
            <a:ext cx="587375" cy="21113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991350" y="2793365"/>
            <a:ext cx="1508760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第</a:t>
            </a:r>
            <a:r>
              <a:rPr lang="en-US" altLang="zh-CN"/>
              <a:t>k</a:t>
            </a:r>
            <a:r>
              <a:rPr lang="zh-CN" altLang="en-US"/>
              <a:t>帧中属性</a:t>
            </a:r>
          </a:p>
        </p:txBody>
      </p:sp>
      <p:sp>
        <p:nvSpPr>
          <p:cNvPr id="23" name="矩形 22"/>
          <p:cNvSpPr/>
          <p:nvPr/>
        </p:nvSpPr>
        <p:spPr>
          <a:xfrm>
            <a:off x="6789420" y="3484245"/>
            <a:ext cx="1994535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第</a:t>
            </a:r>
            <a:r>
              <a:rPr lang="en-US" altLang="zh-CN"/>
              <a:t>k+1</a:t>
            </a:r>
            <a:r>
              <a:rPr lang="zh-CN" altLang="en-US"/>
              <a:t>帧中属性</a:t>
            </a:r>
          </a:p>
        </p:txBody>
      </p:sp>
      <p:sp>
        <p:nvSpPr>
          <p:cNvPr id="24" name="矩形 23"/>
          <p:cNvSpPr/>
          <p:nvPr/>
        </p:nvSpPr>
        <p:spPr>
          <a:xfrm>
            <a:off x="6789420" y="4072890"/>
            <a:ext cx="1994535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第</a:t>
            </a:r>
            <a:r>
              <a:rPr lang="en-US" altLang="zh-CN"/>
              <a:t>k+2</a:t>
            </a:r>
            <a:r>
              <a:rPr lang="zh-CN" altLang="en-US"/>
              <a:t>帧中属性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350760" y="4771390"/>
            <a:ext cx="640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80604020202020204" pitchFamily="34" charset="0"/>
                <a:cs typeface="Arial" panose="02080604020202020204" pitchFamily="34" charset="0"/>
              </a:rPr>
              <a:t>……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111240" y="5575300"/>
            <a:ext cx="343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vector&lt;FeaturePerFrame&gt;</a:t>
            </a:r>
          </a:p>
        </p:txBody>
      </p:sp>
      <p:sp>
        <p:nvSpPr>
          <p:cNvPr id="27" name="左大括号 26"/>
          <p:cNvSpPr/>
          <p:nvPr/>
        </p:nvSpPr>
        <p:spPr>
          <a:xfrm>
            <a:off x="8783955" y="1902460"/>
            <a:ext cx="587375" cy="21113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715500" y="1651635"/>
            <a:ext cx="1103630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像素坐标</a:t>
            </a:r>
          </a:p>
        </p:txBody>
      </p:sp>
      <p:sp>
        <p:nvSpPr>
          <p:cNvPr id="29" name="矩形 28"/>
          <p:cNvSpPr/>
          <p:nvPr/>
        </p:nvSpPr>
        <p:spPr>
          <a:xfrm>
            <a:off x="9547860" y="2259330"/>
            <a:ext cx="2090420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归一化相机系坐标</a:t>
            </a:r>
          </a:p>
        </p:txBody>
      </p:sp>
      <p:sp>
        <p:nvSpPr>
          <p:cNvPr id="30" name="矩形 29"/>
          <p:cNvSpPr/>
          <p:nvPr/>
        </p:nvSpPr>
        <p:spPr>
          <a:xfrm>
            <a:off x="9715500" y="2872105"/>
            <a:ext cx="1589405" cy="384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特征点速度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0059670" y="3621405"/>
            <a:ext cx="640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Arial" panose="02080604020202020204" pitchFamily="34" charset="0"/>
                <a:cs typeface="Arial" panose="02080604020202020204" pitchFamily="34" charset="0"/>
              </a:rPr>
              <a:t>……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2140" y="497205"/>
            <a:ext cx="2685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旋转外参的标定</a:t>
            </a: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215" y="1926590"/>
            <a:ext cx="8115300" cy="11049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215" y="3121660"/>
            <a:ext cx="3629025" cy="148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42620" y="568960"/>
            <a:ext cx="2460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视觉</a:t>
            </a:r>
            <a:r>
              <a:rPr lang="en-US" altLang="zh-CN"/>
              <a:t>sfm</a:t>
            </a:r>
          </a:p>
        </p:txBody>
      </p:sp>
      <p:sp>
        <p:nvSpPr>
          <p:cNvPr id="5" name="矩形 4"/>
          <p:cNvSpPr/>
          <p:nvPr/>
        </p:nvSpPr>
        <p:spPr>
          <a:xfrm>
            <a:off x="642620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571625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00630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83200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49935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678940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607945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90515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</a:t>
            </a:r>
          </a:p>
        </p:txBody>
      </p:sp>
      <p:sp>
        <p:nvSpPr>
          <p:cNvPr id="15" name="矩形 14"/>
          <p:cNvSpPr/>
          <p:nvPr/>
        </p:nvSpPr>
        <p:spPr>
          <a:xfrm>
            <a:off x="3422650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529965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</a:t>
            </a:r>
          </a:p>
        </p:txBody>
      </p:sp>
      <p:sp>
        <p:nvSpPr>
          <p:cNvPr id="17" name="矩形 16"/>
          <p:cNvSpPr/>
          <p:nvPr/>
        </p:nvSpPr>
        <p:spPr>
          <a:xfrm>
            <a:off x="4351655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458970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4</a:t>
            </a:r>
          </a:p>
        </p:txBody>
      </p:sp>
      <p:sp>
        <p:nvSpPr>
          <p:cNvPr id="19" name="矩形 18"/>
          <p:cNvSpPr/>
          <p:nvPr/>
        </p:nvSpPr>
        <p:spPr>
          <a:xfrm>
            <a:off x="6206490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313805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6</a:t>
            </a:r>
          </a:p>
        </p:txBody>
      </p:sp>
      <p:sp>
        <p:nvSpPr>
          <p:cNvPr id="21" name="矩形 20"/>
          <p:cNvSpPr/>
          <p:nvPr/>
        </p:nvSpPr>
        <p:spPr>
          <a:xfrm>
            <a:off x="7129780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237095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7</a:t>
            </a:r>
          </a:p>
        </p:txBody>
      </p:sp>
      <p:sp>
        <p:nvSpPr>
          <p:cNvPr id="25" name="矩形 24"/>
          <p:cNvSpPr/>
          <p:nvPr/>
        </p:nvSpPr>
        <p:spPr>
          <a:xfrm>
            <a:off x="8054975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162290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8</a:t>
            </a:r>
          </a:p>
        </p:txBody>
      </p:sp>
      <p:sp>
        <p:nvSpPr>
          <p:cNvPr id="27" name="矩形 26"/>
          <p:cNvSpPr/>
          <p:nvPr/>
        </p:nvSpPr>
        <p:spPr>
          <a:xfrm>
            <a:off x="8978265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9085580" y="3469005"/>
            <a:ext cx="38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9</a:t>
            </a:r>
          </a:p>
        </p:txBody>
      </p:sp>
      <p:sp>
        <p:nvSpPr>
          <p:cNvPr id="29" name="矩形 28"/>
          <p:cNvSpPr/>
          <p:nvPr/>
        </p:nvSpPr>
        <p:spPr>
          <a:xfrm>
            <a:off x="9901555" y="2856230"/>
            <a:ext cx="602615" cy="377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0008870" y="3469005"/>
            <a:ext cx="494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10</a:t>
            </a:r>
          </a:p>
        </p:txBody>
      </p:sp>
      <p:sp>
        <p:nvSpPr>
          <p:cNvPr id="31" name="五角星 30"/>
          <p:cNvSpPr/>
          <p:nvPr/>
        </p:nvSpPr>
        <p:spPr>
          <a:xfrm>
            <a:off x="4415155" y="2880360"/>
            <a:ext cx="431800" cy="353695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下弧形箭头 31"/>
          <p:cNvSpPr/>
          <p:nvPr/>
        </p:nvSpPr>
        <p:spPr>
          <a:xfrm>
            <a:off x="4637405" y="3949065"/>
            <a:ext cx="5708650" cy="81724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06490" y="4980940"/>
            <a:ext cx="3105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 T</a:t>
            </a:r>
            <a:r>
              <a:rPr lang="zh-CN" altLang="en-US"/>
              <a:t>（对极几何，</a:t>
            </a:r>
            <a:r>
              <a:rPr lang="en-US" altLang="zh-CN"/>
              <a:t>T</a:t>
            </a:r>
            <a:r>
              <a:rPr lang="zh-CN" altLang="en-US"/>
              <a:t>尺度未知）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4156012" y="2318639"/>
                <a:ext cx="6908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𝐼</m:t>
                    </m:r>
                  </m:oMath>
                </a14:m>
                <a:r>
                  <a:rPr lang="zh-CN" altLang="en-US">
                    <a:latin typeface="DejaVu Math TeX Gyre" panose="02000503000000000000" charset="0"/>
                    <a:cs typeface="DejaVu Math TeX Gyre" panose="02000503000000000000" charset="0"/>
                  </a:rPr>
                  <a:t>，</a:t>
                </a:r>
                <a:r>
                  <a:rPr lang="en-US" altLang="zh-CN">
                    <a:latin typeface="DejaVu Math TeX Gyre" panose="02000503000000000000" charset="0"/>
                    <a:cs typeface="DejaVu Math TeX Gyre" panose="02000503000000000000" charset="0"/>
                  </a:rPr>
                  <a:t>0</a:t>
                </a:r>
              </a:p>
            </p:txBody>
          </p:sp>
        </mc:Choice>
        <mc:Fallback xmlns="">
          <p:sp>
            <p:nvSpPr>
              <p:cNvPr id="35" name="文本框 34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4156012" y="2318639"/>
                <a:ext cx="690880" cy="368300"/>
              </a:xfrm>
              <a:prstGeom prst="rect">
                <a:avLst/>
              </a:prstGeom>
              <a:blipFill rotWithShape="true">
                <a:blip r:embed="rId2"/>
                <a:stretch>
                  <a:fillRect l="-83" t="-69" r="83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/>
          <p:cNvSpPr txBox="1"/>
          <p:nvPr/>
        </p:nvSpPr>
        <p:spPr>
          <a:xfrm>
            <a:off x="9857042" y="2251964"/>
            <a:ext cx="73596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>
                <a:latin typeface="DejaVu Math TeX Gyre" panose="02000503000000000000" charset="0"/>
                <a:cs typeface="DejaVu Math TeX Gyre" panose="02000503000000000000" charset="0"/>
              </a:rPr>
              <a:t>R</a:t>
            </a:r>
            <a:r>
              <a:rPr lang="zh-CN" altLang="en-US">
                <a:latin typeface="DejaVu Math TeX Gyre" panose="02000503000000000000" charset="0"/>
                <a:cs typeface="DejaVu Math TeX Gyre" panose="02000503000000000000" charset="0"/>
              </a:rPr>
              <a:t>，</a:t>
            </a:r>
            <a:r>
              <a:rPr lang="en-US" altLang="zh-CN">
                <a:latin typeface="DejaVu Math TeX Gyre" panose="02000503000000000000" charset="0"/>
                <a:cs typeface="DejaVu Math TeX Gyre" panose="02000503000000000000" charset="0"/>
              </a:rPr>
              <a:t>T</a:t>
            </a:r>
          </a:p>
        </p:txBody>
      </p:sp>
      <p:sp>
        <p:nvSpPr>
          <p:cNvPr id="37" name="六角星 36"/>
          <p:cNvSpPr/>
          <p:nvPr/>
        </p:nvSpPr>
        <p:spPr>
          <a:xfrm>
            <a:off x="5778500" y="173990"/>
            <a:ext cx="224155" cy="197485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六角星 37"/>
          <p:cNvSpPr/>
          <p:nvPr/>
        </p:nvSpPr>
        <p:spPr>
          <a:xfrm>
            <a:off x="6395720" y="371475"/>
            <a:ext cx="224155" cy="197485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六角星 38"/>
          <p:cNvSpPr/>
          <p:nvPr/>
        </p:nvSpPr>
        <p:spPr>
          <a:xfrm>
            <a:off x="7012940" y="289560"/>
            <a:ext cx="224155" cy="197485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endCxn id="37" idx="3"/>
          </p:cNvCxnSpPr>
          <p:nvPr/>
        </p:nvCxnSpPr>
        <p:spPr>
          <a:xfrm flipV="1">
            <a:off x="4594225" y="321945"/>
            <a:ext cx="1184275" cy="2442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7" idx="1"/>
          </p:cNvCxnSpPr>
          <p:nvPr/>
        </p:nvCxnSpPr>
        <p:spPr>
          <a:xfrm>
            <a:off x="6002655" y="321945"/>
            <a:ext cx="4064635" cy="2493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17" idx="0"/>
            <a:endCxn id="38" idx="2"/>
          </p:cNvCxnSpPr>
          <p:nvPr/>
        </p:nvCxnSpPr>
        <p:spPr>
          <a:xfrm flipV="1">
            <a:off x="4653280" y="568960"/>
            <a:ext cx="1854835" cy="2287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9" idx="2"/>
          </p:cNvCxnSpPr>
          <p:nvPr/>
        </p:nvCxnSpPr>
        <p:spPr>
          <a:xfrm flipH="1">
            <a:off x="4777740" y="487045"/>
            <a:ext cx="2347595" cy="2308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38" idx="1"/>
          </p:cNvCxnSpPr>
          <p:nvPr/>
        </p:nvCxnSpPr>
        <p:spPr>
          <a:xfrm>
            <a:off x="6619875" y="519430"/>
            <a:ext cx="3539490" cy="2275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39" idx="1"/>
          </p:cNvCxnSpPr>
          <p:nvPr/>
        </p:nvCxnSpPr>
        <p:spPr>
          <a:xfrm>
            <a:off x="7237095" y="437515"/>
            <a:ext cx="2922270" cy="2326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右箭头 45"/>
          <p:cNvSpPr/>
          <p:nvPr/>
        </p:nvSpPr>
        <p:spPr>
          <a:xfrm>
            <a:off x="6098540" y="2121535"/>
            <a:ext cx="1633855" cy="275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6483350" y="1885950"/>
            <a:ext cx="725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PNP</a:t>
            </a:r>
          </a:p>
        </p:txBody>
      </p:sp>
      <p:sp>
        <p:nvSpPr>
          <p:cNvPr id="48" name="六角星 47"/>
          <p:cNvSpPr/>
          <p:nvPr/>
        </p:nvSpPr>
        <p:spPr>
          <a:xfrm>
            <a:off x="7732395" y="437515"/>
            <a:ext cx="224155" cy="197485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六角星 48"/>
          <p:cNvSpPr/>
          <p:nvPr/>
        </p:nvSpPr>
        <p:spPr>
          <a:xfrm>
            <a:off x="8162290" y="826770"/>
            <a:ext cx="224155" cy="197485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六角星 49"/>
          <p:cNvSpPr/>
          <p:nvPr/>
        </p:nvSpPr>
        <p:spPr>
          <a:xfrm>
            <a:off x="5984240" y="654685"/>
            <a:ext cx="224155" cy="197485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角星 50"/>
          <p:cNvSpPr/>
          <p:nvPr/>
        </p:nvSpPr>
        <p:spPr>
          <a:xfrm>
            <a:off x="6788785" y="1024255"/>
            <a:ext cx="224155" cy="197485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 rot="10800000">
            <a:off x="1469390" y="2121535"/>
            <a:ext cx="1633855" cy="275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854200" y="1885950"/>
            <a:ext cx="725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PNP</a:t>
            </a:r>
          </a:p>
        </p:txBody>
      </p:sp>
      <p:sp>
        <p:nvSpPr>
          <p:cNvPr id="54" name="六角星 53"/>
          <p:cNvSpPr/>
          <p:nvPr/>
        </p:nvSpPr>
        <p:spPr>
          <a:xfrm>
            <a:off x="1137920" y="1292225"/>
            <a:ext cx="224155" cy="197485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六角星 54"/>
          <p:cNvSpPr/>
          <p:nvPr/>
        </p:nvSpPr>
        <p:spPr>
          <a:xfrm>
            <a:off x="1854200" y="1221740"/>
            <a:ext cx="224155" cy="197485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六角星 55"/>
          <p:cNvSpPr/>
          <p:nvPr/>
        </p:nvSpPr>
        <p:spPr>
          <a:xfrm>
            <a:off x="1630045" y="1614170"/>
            <a:ext cx="224155" cy="197485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六角星 56"/>
          <p:cNvSpPr/>
          <p:nvPr/>
        </p:nvSpPr>
        <p:spPr>
          <a:xfrm>
            <a:off x="2771775" y="1502410"/>
            <a:ext cx="224155" cy="197485"/>
          </a:xfrm>
          <a:prstGeom prst="star6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2" grpId="0" animBg="1"/>
      <p:bldP spid="32" grpId="1" animBg="1"/>
      <p:bldP spid="33" grpId="0"/>
      <p:bldP spid="33" grpId="1"/>
      <p:bldP spid="35" grpId="0"/>
      <p:bldP spid="35" grpId="1"/>
      <p:bldP spid="36" grpId="0"/>
      <p:bldP spid="36" grpId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6" grpId="0" animBg="1"/>
      <p:bldP spid="46" grpId="1" animBg="1"/>
      <p:bldP spid="47" grpId="0"/>
      <p:bldP spid="47" grpId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/>
      <p:bldP spid="53" grpId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0545" y="568960"/>
            <a:ext cx="250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视觉重投影误差</a:t>
            </a:r>
          </a:p>
        </p:txBody>
      </p:sp>
      <p:sp>
        <p:nvSpPr>
          <p:cNvPr id="3" name="矩形 2"/>
          <p:cNvSpPr/>
          <p:nvPr/>
        </p:nvSpPr>
        <p:spPr>
          <a:xfrm>
            <a:off x="1877695" y="2663190"/>
            <a:ext cx="3573145" cy="203073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五角星 3"/>
          <p:cNvSpPr/>
          <p:nvPr/>
        </p:nvSpPr>
        <p:spPr>
          <a:xfrm>
            <a:off x="5574665" y="1508125"/>
            <a:ext cx="275590" cy="24511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868170" y="5092700"/>
            <a:ext cx="244475" cy="2247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112645" y="3734435"/>
            <a:ext cx="1430020" cy="13582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4093845" y="1794510"/>
            <a:ext cx="1409065" cy="12865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五角星 7"/>
          <p:cNvSpPr/>
          <p:nvPr/>
        </p:nvSpPr>
        <p:spPr>
          <a:xfrm>
            <a:off x="3481070" y="3622040"/>
            <a:ext cx="142875" cy="183515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五角星 8"/>
          <p:cNvSpPr/>
          <p:nvPr/>
        </p:nvSpPr>
        <p:spPr>
          <a:xfrm>
            <a:off x="3267075" y="3529965"/>
            <a:ext cx="153035" cy="19431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8630" y="650875"/>
            <a:ext cx="4391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"/>
              <a:t>陀螺仪零偏估计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195" y="1502410"/>
            <a:ext cx="3371850" cy="1238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3382010"/>
            <a:ext cx="4600575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905" y="456565"/>
            <a:ext cx="4124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视觉惯性对齐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585" y="842645"/>
            <a:ext cx="6515100" cy="1914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585" y="2757170"/>
            <a:ext cx="3810000" cy="742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500120"/>
            <a:ext cx="6905625" cy="281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85" y="1612265"/>
            <a:ext cx="6172200" cy="38576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2300" y="528320"/>
            <a:ext cx="3155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重力方向矫正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宽屏</PresentationFormat>
  <Paragraphs>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DejaVu Math TeX Gyre</vt:lpstr>
      <vt:lpstr>宋体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wps</dc:creator>
  <cp:lastModifiedBy>Momenta</cp:lastModifiedBy>
  <cp:revision>9</cp:revision>
  <dcterms:created xsi:type="dcterms:W3CDTF">2021-05-16T12:21:42Z</dcterms:created>
  <dcterms:modified xsi:type="dcterms:W3CDTF">2021-06-20T12:56:14Z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2052-11.1.0.10161</vt:lpwstr>
  </property>
</Properties>
</file>